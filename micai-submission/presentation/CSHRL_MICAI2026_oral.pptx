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9"/>
    <p:restoredTop sz="96868"/>
  </p:normalViewPr>
  <p:slideViewPr>
    <p:cSldViewPr snapToGrid="0" snapToObjects="1" showGuides="1">
      <p:cViewPr varScale="1">
        <p:scale>
          <a:sx n="147" d="100"/>
          <a:sy n="147" d="100"/>
        </p:scale>
        <p:origin x="26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1E2B849-BEB8-014C-9AAD-F339D568A0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5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5D2ACE-6A46-864F-8023-96B3EAACED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4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9B6AC53-31E7-D24E-96CA-D0A9F7B9B5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DEC6A5C-4506-6040-BDF9-11BBB1DCA8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5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13508FC-2AEA-5F44-B50C-E27343F9CC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0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El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01EDA0A-737A-AE43-88B6-F7F2BDABE6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5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El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DC8F0C0-D88E-A84A-BE01-8563F9BC1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2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F1B6AFF-4263-324D-B760-7A8D7E20DF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6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039E5DEA-893D-DF41-A15E-ED1171AC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78628-F0F8-7646-82C9-54A6A487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65BC487-73DD-C841-AE4E-CEC70BC5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05/08/26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87C637-E6F7-994D-8C5E-8D6AD2CE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EE4056-E3FA-3E4B-AFAB-5C1C1C66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932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9BC3E20-36B3-3F47-A4A3-BEFC1350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05/08/26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11FD49-E98D-E044-B5B5-AD6943AAA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BED133-354B-0A44-997A-34AB09C5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390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2CD74-DF47-4F4D-9606-1625FA50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11FD16-B7AA-2341-921E-E7F8F1B97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D5F868-2AE3-F74E-9B6D-F2F71EBD1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C21DE2-2E3E-554B-A18F-94BC3762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05/08/26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B3AE9-E850-3843-A104-5C191C7A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3CFCF5-FC81-5A4D-9D51-C0C6A223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4210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0B575-F3AF-D642-AEC8-9770E08E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363167-9CA1-BF46-976D-AEAC759E8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C87455-4066-1545-BF50-A45F2CF09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88D104-1C1B-B144-8B00-70E3EB47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05/08/26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1AE73A-ACCC-0F42-851D-B807D704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48C28E-6A01-F540-9D29-8C5EF40F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253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576F0-5299-4549-84C4-D28FEB68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33F839-71B5-4B4B-B87C-C59E4635A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6A0D41-ECBF-EB42-8FCC-0E054CC3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05/08/26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536653-6D2D-E74F-9AFF-BB0F9640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BB8241-B0BA-2845-A63E-717AC367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785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C6CFBB-7CD5-9141-921E-FE1BDE177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FFB5B2-8C2A-AD4E-BEFB-17CE00739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2B7AC8-8C6D-9649-81CA-7FB4E099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05/08/26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0FA19F-6C90-6649-B276-A78B70BC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18009E-F6D2-1640-A3F0-47A93AB7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65029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3F9C4D-1853-E049-B06C-394842F3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FB91F7-5711-564F-9827-BD9CB87A9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EDF7A5-6315-1740-86D8-9A28D7A21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D198D-5AD8-5A48-A6A3-02544E5D215B}" type="datetimeFigureOut">
              <a:rPr lang="es-MX" smtClean="0"/>
              <a:t>05/08/26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38B93E-1263-1647-B797-890E31AE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E84611-ABAF-4149-B04B-AB15E96BA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425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49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28AA9-EBBE-B645-A61D-6715A0BE02D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663337"/>
            <a:ext cx="9144000" cy="1846626"/>
          </a:xfrm>
        </p:spPr>
        <p:txBody>
          <a:bodyPr>
            <a:normAutofit/>
          </a:bodyPr>
          <a:lstStyle/>
          <a:p>
            <a:r>
              <a:rPr sz="3000"/>
              <a:t>Coinductive Symmetric Homomorphism Reinforcement Learning</a:t>
            </a:r>
          </a:p>
          <a:p>
            <a:r>
              <a:rPr sz="2200"/>
              <a:t>Optimality as Structure Preservation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69D4BA-2312-F246-85C0-1B814EC340A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4066902"/>
            <a:ext cx="9144000" cy="1190897"/>
          </a:xfrm>
        </p:spPr>
        <p:txBody>
          <a:bodyPr>
            <a:normAutofit/>
          </a:bodyPr>
          <a:lstStyle/>
          <a:p>
            <a:r>
              <a:rPr sz="1800"/>
              <a:t>Ricardo Corral-Corral  ·  ricardo@gyx.ai</a:t>
            </a:r>
          </a:p>
        </p:txBody>
      </p:sp>
    </p:spTree>
    <p:extLst>
      <p:ext uri="{BB962C8B-B14F-4D97-AF65-F5344CB8AC3E}">
        <p14:creationId xmlns:p14="http://schemas.microsoft.com/office/powerpoint/2010/main" val="2591128269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The problem with scalar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2100" b="0" i="1">
                <a:solidFill>
                  <a:srgbClr val="2456A6"/>
                </a:solidFill>
              </a:rPr>
              <a:t>G  =  r₀ + γ·r₁ + γ²·r₂ + ⋯        γ ∈ [0, 1)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The infinite future is </a:t>
            </a:r>
            <a:r>
              <a:rPr sz="1900" b="1" i="0">
                <a:solidFill>
                  <a:srgbClr val="2E3440"/>
                </a:solidFill>
              </a:rPr>
              <a:t>collapsed into one number</a:t>
            </a:r>
            <a:r>
              <a:rPr sz="1900" b="0" i="0">
                <a:solidFill>
                  <a:srgbClr val="2E3440"/>
                </a:solidFill>
              </a:rPr>
              <a:t> — all temporal structure is discarded.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γ is </a:t>
            </a:r>
            <a:r>
              <a:rPr sz="1900" b="1" i="0">
                <a:solidFill>
                  <a:srgbClr val="2E3440"/>
                </a:solidFill>
              </a:rPr>
              <a:t>arbitrary</a:t>
            </a:r>
            <a:r>
              <a:rPr sz="1900" b="0" i="0">
                <a:solidFill>
                  <a:srgbClr val="2E3440"/>
                </a:solidFill>
              </a:rPr>
              <a:t>: it makes the sum converge; the task does not demand it.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A reward 10 steps ahead counts for γ¹⁰ of its face value — the math shapes the objective.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846320"/>
            <a:ext cx="11155680" cy="91440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3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2E3440"/>
                </a:solidFill>
              </a:rPr>
              <a:t>Consequence: in </a:t>
            </a:r>
            <a:r>
              <a:rPr sz="1700" b="1" i="0">
                <a:solidFill>
                  <a:srgbClr val="2E3440"/>
                </a:solidFill>
              </a:rPr>
              <a:t>sacrifice patterns</a:t>
            </a:r>
            <a:r>
              <a:rPr sz="1700" b="0" i="0">
                <a:solidFill>
                  <a:srgbClr val="2E3440"/>
                </a:solidFill>
              </a:rPr>
              <a:t> — pay now, gain forever — scalar methods can provably pick the wrong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Key idea: keep the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From any state, record the </a:t>
            </a:r>
            <a:r>
              <a:rPr sz="1900" b="1" i="0">
                <a:solidFill>
                  <a:srgbClr val="2E3440"/>
                </a:solidFill>
              </a:rPr>
              <a:t>best achievable reward at every future depth</a:t>
            </a:r>
            <a:r>
              <a:rPr sz="1900" b="0" i="0">
                <a:solidFill>
                  <a:srgbClr val="2E3440"/>
                </a:solidFill>
              </a:rPr>
              <a:t> — never collapse it: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2100" b="0" i="1">
                <a:solidFill>
                  <a:srgbClr val="2456A6"/>
                </a:solidFill>
              </a:rPr>
              <a:t>value(s′)  =  [ v₀, v₁, v₂, … ]    — an infinite stream, not a number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Compare states by </a:t>
            </a:r>
            <a:r>
              <a:rPr sz="1900" b="1" i="0">
                <a:solidFill>
                  <a:srgbClr val="2E3440"/>
                </a:solidFill>
              </a:rPr>
              <a:t>pointwise stream dominance</a:t>
            </a:r>
            <a:r>
              <a:rPr sz="1900" b="0" i="0">
                <a:solidFill>
                  <a:srgbClr val="2E3440"/>
                </a:solidFill>
              </a:rPr>
              <a:t>: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2100" b="0" i="1">
                <a:solidFill>
                  <a:srgbClr val="2456A6"/>
                </a:solidFill>
              </a:rPr>
              <a:t>x ⊑ y   ⟺   x(t) ≤ y(t)   for every t = 0, 1, 2, …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No discount factor.  No averaging.  No horizon cutoff.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The better state must be at least as good at </a:t>
            </a:r>
            <a:r>
              <a:rPr sz="1900" b="1" i="0">
                <a:solidFill>
                  <a:srgbClr val="2E3440"/>
                </a:solidFill>
              </a:rPr>
              <a:t>every single future depth</a:t>
            </a:r>
            <a:r>
              <a:rPr sz="1900" b="0" i="0">
                <a:solidFill>
                  <a:srgbClr val="2E34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Two coinductive optimality conditions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5440680" cy="228600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4F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E3440"/>
                </a:solidFill>
              </a:rPr>
              <a:t>CoinductiveHomomorphism — strategic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E3440"/>
                </a:solidFill>
              </a:rPr>
              <a:t>a ≼ b  ⟹  value(next(s,a)) ⊑ value(next(s,b))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E3440"/>
                </a:solidFill>
              </a:rPr>
              <a:t>Judge actions by </a:t>
            </a:r>
            <a:r>
              <a:rPr sz="1600" b="1" i="0">
                <a:solidFill>
                  <a:srgbClr val="2E3440"/>
                </a:solidFill>
              </a:rPr>
              <a:t>where they lead</a:t>
            </a:r>
            <a:r>
              <a:rPr sz="1600" b="0" i="0">
                <a:solidFill>
                  <a:srgbClr val="2E3440"/>
                </a:solidFill>
              </a:rPr>
              <a:t>. Immediate reward is invisible; successor quality is everything.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440680" cy="228600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E3440"/>
                </a:solidFill>
              </a:rPr>
              <a:t>CoindHomo — tactical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E3440"/>
                </a:solidFill>
              </a:rPr>
              <a:t>a ≼ b  ⟹  action-value(s,a) ⊑ action-value(s,b)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E3440"/>
                </a:solidFill>
              </a:rPr>
              <a:t>The better action must win the </a:t>
            </a:r>
            <a:r>
              <a:rPr sz="1600" b="1" i="0">
                <a:solidFill>
                  <a:srgbClr val="2E3440"/>
                </a:solidFill>
              </a:rPr>
              <a:t>immediate payoff and the long-term future</a:t>
            </a:r>
            <a:r>
              <a:rPr sz="1600" b="0" i="0">
                <a:solidFill>
                  <a:srgbClr val="2E3440"/>
                </a:solidFill>
              </a:rPr>
              <a:t> — head and tail.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11155680" cy="91440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2E3440"/>
                </a:solidFill>
              </a:rPr>
              <a:t>Decomposition theorem (machine-checked):</a:t>
            </a:r>
            <a:r>
              <a:rPr sz="1700" b="0" i="0">
                <a:solidFill>
                  <a:srgbClr val="2E3440"/>
                </a:solidFill>
              </a:rPr>
              <a:t>  CoindHomo  =  CoinductiveHomomorphism  +  immediate-reward compatibility.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Why “Symmetric”: the full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The object of interest is the </a:t>
            </a:r>
            <a:r>
              <a:rPr sz="1900" b="1" i="0">
                <a:solidFill>
                  <a:srgbClr val="2E3440"/>
                </a:solidFill>
              </a:rPr>
              <a:t>entire order</a:t>
            </a:r>
            <a:r>
              <a:rPr sz="1900" b="0" i="0">
                <a:solidFill>
                  <a:srgbClr val="2E3440"/>
                </a:solidFill>
              </a:rPr>
              <a:t> on the action set — a permutation, an element of the </a:t>
            </a:r>
            <a:r>
              <a:rPr sz="1900" b="1" i="0">
                <a:solidFill>
                  <a:srgbClr val="2E3440"/>
                </a:solidFill>
              </a:rPr>
              <a:t>symmetric group</a:t>
            </a:r>
            <a:r>
              <a:rPr sz="1900" b="0" i="0">
                <a:solidFill>
                  <a:srgbClr val="2E3440"/>
                </a:solidFill>
              </a:rPr>
              <a:t> — not just the argmax.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An agent that has understood its environment can say </a:t>
            </a:r>
            <a:r>
              <a:rPr sz="1900" b="1" i="0">
                <a:solidFill>
                  <a:srgbClr val="2E3440"/>
                </a:solidFill>
              </a:rPr>
              <a:t>which of its two worst options is less bad</a:t>
            </a:r>
            <a:r>
              <a:rPr sz="1900" b="0" i="0">
                <a:solidFill>
                  <a:srgbClr val="2E3440"/>
                </a:solidFill>
              </a:rPr>
              <a:t>. An argmax agent cannot.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A top-action-only learner can look competent while its model is </a:t>
            </a:r>
            <a:r>
              <a:rPr sz="1900" b="1" i="0">
                <a:solidFill>
                  <a:srgbClr val="2E3440"/>
                </a:solidFill>
              </a:rPr>
              <a:t>structurally faulty</a:t>
            </a:r>
            <a:r>
              <a:rPr sz="1900" b="0" i="0">
                <a:solidFill>
                  <a:srgbClr val="2E3440"/>
                </a:solidFill>
              </a:rPr>
              <a:t> — until its preferred action disappears.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480560"/>
            <a:ext cx="11155680" cy="146304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4F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2E3440"/>
                </a:solidFill>
              </a:rPr>
              <a:t>The full-ranking stance pays operationally: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E3440"/>
                </a:solidFill>
              </a:rPr>
              <a:t>•  learning converges by fixing </a:t>
            </a:r>
            <a:r>
              <a:rPr sz="1600" b="1" i="0">
                <a:solidFill>
                  <a:srgbClr val="2E3440"/>
                </a:solidFill>
              </a:rPr>
              <a:t>every</a:t>
            </a:r>
            <a:r>
              <a:rPr sz="1600" b="0" i="0">
                <a:solidFill>
                  <a:srgbClr val="2E3440"/>
                </a:solidFill>
              </a:rPr>
              <a:t> violated pair — no exploration mechanism needed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2E3440"/>
                </a:solidFill>
              </a:rPr>
              <a:t>•  top action unavailable ⟹ </a:t>
            </a:r>
            <a:r>
              <a:rPr sz="1600" b="1" i="0">
                <a:solidFill>
                  <a:srgbClr val="2E3440"/>
                </a:solidFill>
              </a:rPr>
              <a:t>O(1)</a:t>
            </a:r>
            <a:r>
              <a:rPr sz="1600" b="0" i="0">
                <a:solidFill>
                  <a:srgbClr val="2E3440"/>
                </a:solidFill>
              </a:rPr>
              <a:t> fallback, with a verified guarantee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Verified counterexamples: the strict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Three machine-checked environments separate the two conditions: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E6875"/>
                </a:solidFill>
              </a:rPr>
              <a:t>–  </a:t>
            </a:r>
            <a:r>
              <a:rPr sz="1600" b="1" i="0">
                <a:solidFill>
                  <a:srgbClr val="5E6875"/>
                </a:solidFill>
              </a:rPr>
              <a:t>BinarySacrifice</a:t>
            </a:r>
            <a:r>
              <a:rPr sz="1600" b="0" i="0">
                <a:solidFill>
                  <a:srgbClr val="5E6875"/>
                </a:solidFill>
              </a:rPr>
              <a:t> — trap pays 1 now; paradise pays forever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E6875"/>
                </a:solidFill>
              </a:rPr>
              <a:t>–  </a:t>
            </a:r>
            <a:r>
              <a:rPr sz="1600" b="1" i="0">
                <a:solidFill>
                  <a:srgbClr val="5E6875"/>
                </a:solidFill>
              </a:rPr>
              <a:t>SkillInvestment</a:t>
            </a:r>
            <a:r>
              <a:rPr sz="1600" b="0" i="0">
                <a:solidFill>
                  <a:srgbClr val="5E6875"/>
                </a:solidFill>
              </a:rPr>
              <a:t> — train (0 now) vs. work (2 now)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E6875"/>
                </a:solidFill>
              </a:rPr>
              <a:t>–  </a:t>
            </a:r>
            <a:r>
              <a:rPr sz="1600" b="1" i="0">
                <a:solidFill>
                  <a:srgbClr val="5E6875"/>
                </a:solidFill>
              </a:rPr>
              <a:t>PreparationDilemma</a:t>
            </a:r>
            <a:r>
              <a:rPr sz="1600" b="0" i="0">
                <a:solidFill>
                  <a:srgbClr val="5E6875"/>
                </a:solidFill>
              </a:rPr>
              <a:t> — prepare vs. act immediately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Each has a CoinductiveHomomorphism proof + a proof that </a:t>
            </a:r>
            <a:r>
              <a:rPr sz="1900" b="1" i="0">
                <a:solidFill>
                  <a:srgbClr val="2E3440"/>
                </a:solidFill>
              </a:rPr>
              <a:t>no CoindHomo can rank</a:t>
            </a:r>
            <a:r>
              <a:rPr sz="1900" b="0" i="0">
                <a:solidFill>
                  <a:srgbClr val="2E3440"/>
                </a:solidFill>
              </a:rPr>
              <a:t> the sacrificing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480560"/>
            <a:ext cx="11155680" cy="123444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3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E3440"/>
                </a:solidFill>
              </a:rPr>
              <a:t>Q-learning fails here, provably:</a:t>
            </a:r>
            <a:r>
              <a:rPr sz="1600" b="0" i="0">
                <a:solidFill>
                  <a:srgbClr val="2E3440"/>
                </a:solidFill>
              </a:rPr>
              <a:t> for γ &lt; ½ it selects the action with higher immediate reward and the strictly inferior successor — the discount geometrically suppresses the evidence.  (QLearningFailure.agda)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The Agda 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6492240" cy="2651760"/>
          </a:xfrm>
          <a:prstGeom prst="round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ctr"/>
            <a:r>
              <a:rPr sz="1600">
                <a:solidFill>
                  <a:srgbClr val="5E6875"/>
                </a:solidFill>
                <a:latin typeface="Consolas"/>
              </a:rPr>
              <a:t>-- stream dominance: an infinite witness</a:t>
            </a:r>
          </a:p>
          <a:p>
            <a:r>
              <a:rPr sz="1600">
                <a:solidFill>
                  <a:srgbClr val="ECEFF4"/>
                </a:solidFill>
                <a:latin typeface="Consolas"/>
              </a:rPr>
              <a:t>record _⊑_ (x y : Stream R) : Set where</a:t>
            </a:r>
          </a:p>
          <a:p>
            <a:r>
              <a:rPr sz="1600">
                <a:solidFill>
                  <a:srgbClr val="88C0D0"/>
                </a:solidFill>
                <a:latin typeface="Consolas"/>
              </a:rPr>
              <a:t>  coinductive</a:t>
            </a:r>
          </a:p>
          <a:p>
            <a:r>
              <a:rPr sz="1600">
                <a:solidFill>
                  <a:srgbClr val="88C0D0"/>
                </a:solidFill>
                <a:latin typeface="Consolas"/>
              </a:rPr>
              <a:t>  field</a:t>
            </a:r>
          </a:p>
          <a:p>
            <a:r>
              <a:rPr sz="1600">
                <a:solidFill>
                  <a:srgbClr val="ECEFF4"/>
                </a:solidFill>
                <a:latin typeface="Consolas"/>
              </a:rPr>
              <a:t>    head≤ : head x ≤ head y</a:t>
            </a:r>
          </a:p>
          <a:p>
            <a:r>
              <a:rPr sz="1600">
                <a:solidFill>
                  <a:srgbClr val="ECEFF4"/>
                </a:solidFill>
                <a:latin typeface="Consolas"/>
              </a:rPr>
              <a:t>    tail⊑ : tail x ⊑ tail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6908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5E6875"/>
                </a:solidFill>
              </a:rPr>
              <a:t>(notation lightly simplified; the paper writes _≤ₛ_)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9480" y="13258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Compiles under </a:t>
            </a:r>
            <a:r>
              <a:rPr sz="1900" b="1" i="0">
                <a:solidFill>
                  <a:srgbClr val="2E3440"/>
                </a:solidFill>
              </a:rPr>
              <a:t>--safe --guardedness</a:t>
            </a:r>
            <a:r>
              <a:rPr sz="1900" b="0" i="0">
                <a:solidFill>
                  <a:srgbClr val="2E3440"/>
                </a:solidFill>
              </a:rPr>
              <a:t>: zero postulates, no escape hatches.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Copatterns make coinductive proofs direct-style — why </a:t>
            </a:r>
            <a:r>
              <a:rPr sz="1900" b="1" i="0">
                <a:solidFill>
                  <a:srgbClr val="2E3440"/>
                </a:solidFill>
              </a:rPr>
              <a:t>Agda</a:t>
            </a:r>
            <a:r>
              <a:rPr sz="1900" b="0" i="0">
                <a:solidFill>
                  <a:srgbClr val="2E3440"/>
                </a:solidFill>
              </a:rPr>
              <a:t> over Coq / Isabelle / Lean.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The paper is literate Agda: </a:t>
            </a:r>
            <a:r>
              <a:rPr sz="1900" b="1" i="0">
                <a:solidFill>
                  <a:srgbClr val="2E3440"/>
                </a:solidFill>
              </a:rPr>
              <a:t>building the PDF type-checks every definition shown</a:t>
            </a:r>
            <a:r>
              <a:rPr sz="1900" b="0" i="0">
                <a:solidFill>
                  <a:srgbClr val="2E34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From ideal to algorithm: the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The full coinductive condition is </a:t>
            </a:r>
            <a:r>
              <a:rPr sz="1900" b="1" i="0">
                <a:solidFill>
                  <a:srgbClr val="2E3440"/>
                </a:solidFill>
              </a:rPr>
              <a:t>undecidable in general</a:t>
            </a:r>
            <a:r>
              <a:rPr sz="1900" b="0" i="0">
                <a:solidFill>
                  <a:srgbClr val="2E3440"/>
                </a:solidFill>
              </a:rPr>
              <a:t> — like AIXI, an ideal organizing practical approximations.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The Finder compares </a:t>
            </a:r>
            <a:r>
              <a:rPr sz="1900" b="1" i="0">
                <a:solidFill>
                  <a:srgbClr val="2E3440"/>
                </a:solidFill>
              </a:rPr>
              <a:t>finite traces lexicographically</a:t>
            </a:r>
            <a:r>
              <a:rPr sz="1900" b="0" i="0">
                <a:solidFill>
                  <a:srgbClr val="2E3440"/>
                </a:solidFill>
              </a:rPr>
              <a:t> at depth n: earlier depths dominate, ties recurse deeper.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</a:t>
            </a:r>
            <a:r>
              <a:rPr sz="1900" b="1" i="0">
                <a:solidFill>
                  <a:srgbClr val="2E3440"/>
                </a:solidFill>
              </a:rPr>
              <a:t>No discount factor required</a:t>
            </a:r>
            <a:r>
              <a:rPr sz="1900" b="0" i="0">
                <a:solidFill>
                  <a:srgbClr val="2E3440"/>
                </a:solidFill>
              </a:rPr>
              <a:t> — the lexicographic order is well-defined at any depth.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480560"/>
            <a:ext cx="11155680" cy="109728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4F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2E3440"/>
                </a:solidFill>
              </a:rPr>
              <a:t>Exactness is not assumed — it is verified.</a:t>
            </a:r>
            <a:r>
              <a:rPr sz="1700" b="0" i="0">
                <a:solidFill>
                  <a:srgbClr val="2E3440"/>
                </a:solidFill>
              </a:rPr>
              <a:t>  Environment Classes prove conditions (e.g. horizon sufficiency) under which finite traces decide the infinite condition.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Learning as symmetry restoration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A </a:t>
            </a:r>
            <a:r>
              <a:rPr sz="1900" b="1" i="0">
                <a:solidFill>
                  <a:srgbClr val="2E3440"/>
                </a:solidFill>
              </a:rPr>
              <a:t>violation</a:t>
            </a:r>
            <a:r>
              <a:rPr sz="1900" b="0" i="0">
                <a:solidFill>
                  <a:srgbClr val="2E3440"/>
                </a:solidFill>
              </a:rPr>
              <a:t>: the ranking disagrees with the ground-truth comparator on one pair, at one state.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The repair is a </a:t>
            </a:r>
            <a:r>
              <a:rPr sz="1900" b="1" i="0">
                <a:solidFill>
                  <a:srgbClr val="2E3440"/>
                </a:solidFill>
              </a:rPr>
              <a:t>transposition</a:t>
            </a:r>
            <a:r>
              <a:rPr sz="1900" b="0" i="0">
                <a:solidFill>
                  <a:srgbClr val="2E3440"/>
                </a:solidFill>
              </a:rPr>
              <a:t> — and transpositions generate the symmetric group: learning literally walks it.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2100" b="0" i="1">
                <a:solidFill>
                  <a:srgbClr val="2456A6"/>
                </a:solidFill>
              </a:rPr>
              <a:t>max-violations  ≤  |S| × |A|(|A|−1) /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069080"/>
            <a:ext cx="11155680" cy="100584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4F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E3440"/>
                </a:solidFill>
              </a:rPr>
              <a:t>Swap Monotonicity (verified):</a:t>
            </a:r>
            <a:r>
              <a:rPr sz="1600" b="0" i="0">
                <a:solidFill>
                  <a:srgbClr val="2E3440"/>
                </a:solidFill>
              </a:rPr>
              <a:t> each swap fixes its pair, leaves unrelated pairs unchanged, and strictly decreases total violations  ⟹  convergence in bounded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578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E6875"/>
                </a:solidFill>
              </a:rPr>
              <a:t>Corollaries: uniform pairwise sampling suffices (exploration/exploitation dissolves) · O(1) adaptation via demote-preserves-dominance.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Stochastic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Environments lift through the </a:t>
            </a:r>
            <a:r>
              <a:rPr sz="1900" b="1" i="0">
                <a:solidFill>
                  <a:srgbClr val="2E3440"/>
                </a:solidFill>
              </a:rPr>
              <a:t>finite distribution monad</a:t>
            </a:r>
            <a:r>
              <a:rPr sz="1900" b="0" i="0">
                <a:solidFill>
                  <a:srgbClr val="2E3440"/>
                </a:solidFill>
              </a:rPr>
              <a:t>; values become expected-reward streams.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Pointwise order is too strict under expectation ⟹ </a:t>
            </a:r>
            <a:r>
              <a:rPr sz="1900" b="1" i="0">
                <a:solidFill>
                  <a:srgbClr val="2E3440"/>
                </a:solidFill>
              </a:rPr>
              <a:t>lexicographic coinductive comparison</a:t>
            </a:r>
            <a:r>
              <a:rPr sz="1900" b="0" i="0">
                <a:solidFill>
                  <a:srgbClr val="2E3440"/>
                </a:solidFill>
              </a:rPr>
              <a:t>: compare heads, recurse on ties.</a:t>
            </a:r>
          </a:p>
          <a:p>
            <a:pPr algn="ctr">
              <a:spcBef>
                <a:spcPts val="800"/>
              </a:spcBef>
              <a:spcAft>
                <a:spcPts val="1200"/>
              </a:spcAft>
            </a:pPr>
            <a:r>
              <a:rPr sz="2100" b="0" i="1">
                <a:solidFill>
                  <a:srgbClr val="2456A6"/>
                </a:solidFill>
              </a:rPr>
              <a:t>SD[0] = FOSD   ⊂   SD[1] = SOSD   ⊂   SD[2]   ⊂   ⋯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Each level captures a broader class of utility functions — all verifiable.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Verified rankings </a:t>
            </a:r>
            <a:r>
              <a:rPr sz="1900" b="1" i="0">
                <a:solidFill>
                  <a:srgbClr val="2E3440"/>
                </a:solidFill>
              </a:rPr>
              <a:t>compose</a:t>
            </a:r>
            <a:r>
              <a:rPr sz="1900" b="0" i="0">
                <a:solidFill>
                  <a:srgbClr val="2E3440"/>
                </a:solidFill>
              </a:rPr>
              <a:t>: product, convolution, sum, scaling — zero extra proof burden for independent subsystems.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Scaling verification: Environment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Reusable verification infrastructure between core theory and tasks: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E6875"/>
                </a:solidFill>
              </a:rPr>
              <a:t>–  </a:t>
            </a:r>
            <a:r>
              <a:rPr sz="1600" b="1" i="0">
                <a:solidFill>
                  <a:srgbClr val="5E6875"/>
                </a:solidFill>
              </a:rPr>
              <a:t>FiniteDeterministicMDP</a:t>
            </a:r>
            <a:r>
              <a:rPr sz="1600" b="0" i="0">
                <a:solidFill>
                  <a:srgbClr val="5E6875"/>
                </a:solidFill>
              </a:rPr>
              <a:t> — TwoState, GridWorld, KeyTreasure, the sacrifice tasks…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E6875"/>
                </a:solidFill>
              </a:rPr>
              <a:t>–  </a:t>
            </a:r>
            <a:r>
              <a:rPr sz="1600" b="1" i="0">
                <a:solidFill>
                  <a:srgbClr val="5E6875"/>
                </a:solidFill>
              </a:rPr>
              <a:t>CombinatorialPlacementMDP</a:t>
            </a:r>
            <a:r>
              <a:rPr sz="1600" b="0" i="0">
                <a:solidFill>
                  <a:srgbClr val="5E6875"/>
                </a:solidFill>
              </a:rPr>
              <a:t> — Queens1, Queens8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5E6875"/>
                </a:solidFill>
              </a:rPr>
              <a:t>–  </a:t>
            </a:r>
            <a:r>
              <a:rPr sz="1600" b="1" i="0">
                <a:solidFill>
                  <a:srgbClr val="5E6875"/>
                </a:solidFill>
              </a:rPr>
              <a:t>StochasticFiniteMDP</a:t>
            </a:r>
            <a:r>
              <a:rPr sz="1600" b="0" i="0">
                <a:solidFill>
                  <a:srgbClr val="5E6875"/>
                </a:solidFill>
              </a:rPr>
              <a:t> — CoinFlip, GamblersRuin, RandomWalk, BiasedBandit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160520"/>
            <a:ext cx="11155680" cy="137160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4F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2E3440"/>
                </a:solidFill>
              </a:rPr>
              <a:t>8-Queens: full CoindHomo over 8⁸ ≈ 16.7 million candidate placements — zero postulates.</a:t>
            </a:r>
          </a:p>
          <a:p>
            <a:pPr>
              <a:spcAft>
                <a:spcPts val="400"/>
              </a:spcAft>
            </a:pPr>
            <a:r>
              <a:rPr sz="1700" b="0" i="0">
                <a:solidFill>
                  <a:srgbClr val="2E3440"/>
                </a:solidFill>
              </a:rPr>
              <a:t>The EC supplies the finite-trace-to-infinite-stream bridge; the task author supplies four simple ingredients.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56A6"/>
                </a:solidFill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</a:t>
            </a:r>
            <a:r>
              <a:rPr sz="1900" b="1" i="0">
                <a:solidFill>
                  <a:srgbClr val="2E3440"/>
                </a:solidFill>
              </a:rPr>
              <a:t>Optimality = structure preservation</a:t>
            </a:r>
            <a:r>
              <a:rPr sz="1900" b="0" i="0">
                <a:solidFill>
                  <a:srgbClr val="2E3440"/>
                </a:solidFill>
              </a:rPr>
              <a:t>, not scalar maximization.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The </a:t>
            </a:r>
            <a:r>
              <a:rPr sz="1900" b="1" i="0">
                <a:solidFill>
                  <a:srgbClr val="2E3440"/>
                </a:solidFill>
              </a:rPr>
              <a:t>full ranking</a:t>
            </a:r>
            <a:r>
              <a:rPr sz="1900" b="0" i="0">
                <a:solidFill>
                  <a:srgbClr val="2E3440"/>
                </a:solidFill>
              </a:rPr>
              <a:t> is the object of knowledge — and it pays: provable convergence, instant adaptation.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2E3440"/>
                </a:solidFill>
              </a:rPr>
              <a:t>•  </a:t>
            </a:r>
            <a:r>
              <a:rPr sz="1900" b="1" i="0">
                <a:solidFill>
                  <a:srgbClr val="2E3440"/>
                </a:solidFill>
              </a:rPr>
              <a:t>Verified ≠ small</a:t>
            </a:r>
            <a:r>
              <a:rPr sz="1900" b="0" i="0">
                <a:solidFill>
                  <a:srgbClr val="2E3440"/>
                </a:solidFill>
              </a:rPr>
              <a:t>: environment classes carry the proofs to 16.7M-configuration domains.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5E6875"/>
                </a:solidFill>
              </a:rPr>
              <a:t>Honest limits: finite action spaces; exact traces need the step function (model-based flavor); empirical evaluation ongoing.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4389120"/>
            <a:ext cx="6492240" cy="155448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24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3440"/>
                </a:solidFill>
              </a:rPr>
              <a:t>github.com/doctorcorral/csh-rl</a:t>
            </a:r>
          </a:p>
          <a:p>
            <a:pPr>
              <a:spcAft>
                <a:spcPts val="400"/>
              </a:spcAft>
            </a:pPr>
            <a:r>
              <a:rPr sz="1800" b="0" i="0">
                <a:solidFill>
                  <a:srgbClr val="2E3440"/>
                </a:solidFill>
              </a:rPr>
              <a:t>complete Agda artifact · the paper type-checks itself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800" b="1" i="0">
                <a:solidFill>
                  <a:srgbClr val="2E3440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5" id="{673261D5-6DFE-EA4C-8B8C-24A6413F896C}" vid="{9E14CBEA-B3E3-CF41-81B7-4207B7B42F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139</TotalTime>
  <Words>6</Words>
  <Application>Microsoft Macintosh PowerPoint</Application>
  <PresentationFormat>Panorámica</PresentationFormat>
  <Paragraphs>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Corbel</vt:lpstr>
      <vt:lpstr>Tema de Office</vt:lpstr>
      <vt:lpstr>Title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Microsoft Office User</dc:creator>
  <cp:lastModifiedBy>Microsoft Office User</cp:lastModifiedBy>
  <cp:revision>2</cp:revision>
  <dcterms:created xsi:type="dcterms:W3CDTF">2026-08-05T22:19:54Z</dcterms:created>
  <dcterms:modified xsi:type="dcterms:W3CDTF">2026-08-06T00:39:22Z</dcterms:modified>
</cp:coreProperties>
</file>